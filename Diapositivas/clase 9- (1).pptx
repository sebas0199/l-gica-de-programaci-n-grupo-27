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embeddedFontLst>
    <p:embeddedFont>
      <p:font typeface="Roboto" panose="02000000000000000000" pitchFamily="2" charset="0"/>
      <p:regular r:id="rId9"/>
      <p:bold r:id="rId10"/>
      <p:italic r:id="rId11"/>
      <p:boldItalic r:id="rId12"/>
    </p:embeddedFont>
    <p:embeddedFont>
      <p:font typeface="Roboto SemiBold" panose="020B0604020202020204" charset="0"/>
      <p:regular r:id="rId13"/>
      <p:bold r:id="rId14"/>
      <p:italic r:id="rId15"/>
      <p:boldItalic r:id="rId16"/>
    </p:embeddedFont>
    <p:embeddedFont>
      <p:font typeface="Source Code Pro" panose="020B0509030403020204" pitchFamily="49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theme" Target="theme/theme1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9525" y="9525"/>
            <a:ext cx="114300" cy="683895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771525" y="390525"/>
            <a:ext cx="11381422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rPr>
              <a:t>Taller de Laboratorio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771525" y="1384300"/>
            <a:ext cx="108394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Estructuras Secuenciales &amp; Tipos de Datos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771525" y="2079625"/>
            <a:ext cx="5490686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90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REGLAS DEL JUEGO</a:t>
            </a:r>
            <a:endParaRPr/>
          </a:p>
        </p:txBody>
      </p:sp>
      <p:pic>
        <p:nvPicPr>
          <p:cNvPr id="88" name="Google Shape;88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1525" y="2089150"/>
            <a:ext cx="21907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1200150" y="2527300"/>
            <a:ext cx="4800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Crear proyecto Java: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TallerLaboratorio</a:t>
            </a:r>
            <a:r>
              <a:rPr lang="en-US" sz="15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1200150" y="2870200"/>
            <a:ext cx="48006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Crear 2 Clases: MaestroObra.java y Restaurante.java.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1200150" y="3241675"/>
            <a:ext cx="4800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Usar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Scanner</a:t>
            </a:r>
            <a:r>
              <a:rPr lang="en-US" sz="15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para todas las entradas.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1200150" y="3584575"/>
            <a:ext cx="4800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Usar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printf</a:t>
            </a:r>
            <a:r>
              <a:rPr lang="en-US" sz="15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para salidas de dinero.</a:t>
            </a:r>
            <a:endParaRPr/>
          </a:p>
        </p:txBody>
      </p:sp>
      <p:pic>
        <p:nvPicPr>
          <p:cNvPr id="93" name="Google Shape;93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809037" y="2025650"/>
            <a:ext cx="3619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3"/>
          <p:cNvSpPr txBox="1"/>
          <p:nvPr/>
        </p:nvSpPr>
        <p:spPr>
          <a:xfrm>
            <a:off x="7446962" y="2644775"/>
            <a:ext cx="3086100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Objetivo de hoy: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Interactuar con el usuario usando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mensajes creativos y claros.</a:t>
            </a:r>
            <a:endParaRPr/>
          </a:p>
        </p:txBody>
      </p:sp>
      <p:pic>
        <p:nvPicPr>
          <p:cNvPr id="95" name="Google Shape;95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1525" y="254158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1525" y="2898775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1525" y="3255962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71525" y="3598862"/>
            <a:ext cx="21907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1525" y="2970609"/>
            <a:ext cx="5229225" cy="151447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/>
          <p:nvPr/>
        </p:nvSpPr>
        <p:spPr>
          <a:xfrm>
            <a:off x="9525" y="9525"/>
            <a:ext cx="114300" cy="683895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771525" y="675084"/>
            <a:ext cx="11381422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EA580C"/>
                </a:solidFill>
                <a:latin typeface="Roboto"/>
                <a:ea typeface="Roboto"/>
                <a:cs typeface="Roboto"/>
                <a:sym typeface="Roboto"/>
              </a:rPr>
              <a:t>Ejercicio 1: El Maestro de Obra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71525" y="1170384"/>
            <a:ext cx="10839450" cy="1905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71525" y="1427559"/>
            <a:ext cx="5490686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CONTEXTO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771525" y="1875234"/>
            <a:ext cx="52292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Un constructor necesita calcular materiales. Sabemos que por cada metro cuadrado (m²) se gastan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45 ladrillos</a:t>
            </a:r>
            <a:r>
              <a:rPr lang="en-US" sz="15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771525" y="2522934"/>
            <a:ext cx="5490686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1. ENTRADAS (SCANNER)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6381750" y="1427559"/>
            <a:ext cx="5490686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2. LÓGICA Y FÓRMULAS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6810375" y="1875234"/>
            <a:ext cx="4800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Área Pared: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Alto * Ancho.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6810375" y="2218134"/>
            <a:ext cx="4800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Ladrillos (Double):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Área * 45.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6800701" y="2558802"/>
            <a:ext cx="481027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Ladrillos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(Int):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Aplicar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           a la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cantidad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anterior. (Casting).</a:t>
            </a:r>
            <a:endParaRPr dirty="0"/>
          </a:p>
        </p:txBody>
      </p:sp>
      <p:sp>
        <p:nvSpPr>
          <p:cNvPr id="115" name="Google Shape;115;p14"/>
          <p:cNvSpPr txBox="1"/>
          <p:nvPr/>
        </p:nvSpPr>
        <p:spPr>
          <a:xfrm>
            <a:off x="6810375" y="3132534"/>
            <a:ext cx="4800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Costo Total: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Ladrillos (Int) * Precio.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1400175" y="3170634"/>
            <a:ext cx="44005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Alto de la pared (mts) -&gt; double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1400175" y="3542109"/>
            <a:ext cx="44005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Ancho de la pared (mts) -&gt; double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1400175" y="3913584"/>
            <a:ext cx="44005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Precio por ladrillo -&gt; int</a:t>
            </a:r>
            <a:endParaRPr/>
          </a:p>
        </p:txBody>
      </p:sp>
      <p:pic>
        <p:nvPicPr>
          <p:cNvPr id="119" name="Google Shape;119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58163" y="2532855"/>
            <a:ext cx="404888" cy="2567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1889521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2232421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81750" y="2689621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81750" y="3146821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71550" y="3199209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71550" y="3570684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71550" y="3942159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/>
          <p:nvPr/>
        </p:nvSpPr>
        <p:spPr>
          <a:xfrm>
            <a:off x="9525" y="9525"/>
            <a:ext cx="114300" cy="683895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 txBox="1"/>
          <p:nvPr/>
        </p:nvSpPr>
        <p:spPr>
          <a:xfrm>
            <a:off x="771525" y="675084"/>
            <a:ext cx="11381422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EA580C"/>
                </a:solidFill>
                <a:latin typeface="Roboto"/>
                <a:ea typeface="Roboto"/>
                <a:cs typeface="Roboto"/>
                <a:sym typeface="Roboto"/>
              </a:rPr>
              <a:t>Salida Esperada: MaestroObra</a:t>
            </a:r>
            <a:endParaRPr/>
          </a:p>
        </p:txBody>
      </p:sp>
      <p:sp>
        <p:nvSpPr>
          <p:cNvPr id="133" name="Google Shape;133;p15"/>
          <p:cNvSpPr/>
          <p:nvPr/>
        </p:nvSpPr>
        <p:spPr>
          <a:xfrm>
            <a:off x="771525" y="1170384"/>
            <a:ext cx="10839450" cy="1905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 txBox="1"/>
          <p:nvPr/>
        </p:nvSpPr>
        <p:spPr>
          <a:xfrm>
            <a:off x="771525" y="1427559"/>
            <a:ext cx="1083945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El programa debe mostrar el cálculo exacto y el redondeado.</a:t>
            </a:r>
            <a:endParaRPr/>
          </a:p>
        </p:txBody>
      </p:sp>
      <p:pic>
        <p:nvPicPr>
          <p:cNvPr id="135" name="Google Shape;13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1525" y="2064075"/>
            <a:ext cx="10983075" cy="346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1525" y="3303984"/>
            <a:ext cx="5229225" cy="111442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6"/>
          <p:cNvSpPr/>
          <p:nvPr/>
        </p:nvSpPr>
        <p:spPr>
          <a:xfrm>
            <a:off x="9525" y="9525"/>
            <a:ext cx="114300" cy="683895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 txBox="1"/>
          <p:nvPr/>
        </p:nvSpPr>
        <p:spPr>
          <a:xfrm>
            <a:off x="771525" y="675084"/>
            <a:ext cx="11381422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59669"/>
                </a:solidFill>
                <a:latin typeface="Roboto"/>
                <a:ea typeface="Roboto"/>
                <a:cs typeface="Roboto"/>
                <a:sym typeface="Roboto"/>
              </a:rPr>
              <a:t>Ejercicio 2: La Cuenta del Restaurante</a:t>
            </a:r>
            <a:endParaRPr/>
          </a:p>
        </p:txBody>
      </p:sp>
      <p:sp>
        <p:nvSpPr>
          <p:cNvPr id="143" name="Google Shape;143;p16"/>
          <p:cNvSpPr/>
          <p:nvPr/>
        </p:nvSpPr>
        <p:spPr>
          <a:xfrm>
            <a:off x="771525" y="1170384"/>
            <a:ext cx="10839450" cy="1905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 txBox="1"/>
          <p:nvPr/>
        </p:nvSpPr>
        <p:spPr>
          <a:xfrm>
            <a:off x="771525" y="1427559"/>
            <a:ext cx="5490686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CONTEXTO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771525" y="1875234"/>
            <a:ext cx="52292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Un grupo de amigos cena en un restaurante y deben dividir la cuenta con el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10% de propina</a:t>
            </a:r>
            <a:r>
              <a:rPr lang="en-US" sz="15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771525" y="2522934"/>
            <a:ext cx="5490686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1. ENTRADAS (SCANNER)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771525" y="2970609"/>
            <a:ext cx="522922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59669"/>
                </a:solidFill>
                <a:latin typeface="Roboto"/>
                <a:ea typeface="Roboto"/>
                <a:cs typeface="Roboto"/>
                <a:sym typeface="Roboto"/>
              </a:rPr>
              <a:t>Usa mensajes personalizados para pedir cada dato.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6381750" y="1427559"/>
            <a:ext cx="5490686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¿POR QUÉ ESTE ORDEN?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6381750" y="1875234"/>
            <a:ext cx="5229225" cy="1269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Al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pedir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el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00" b="1" i="0" u="none" strike="noStrike" cap="none" dirty="0" err="1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Texto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(Nombre)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primero,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evitamos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problemas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técnicos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con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el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teclado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(Buffer). 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dirty="0"/>
          </a:p>
        </p:txBody>
      </p:sp>
      <p:pic>
        <p:nvPicPr>
          <p:cNvPr id="150" name="Google Shape;150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2980134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6"/>
          <p:cNvSpPr txBox="1"/>
          <p:nvPr/>
        </p:nvSpPr>
        <p:spPr>
          <a:xfrm>
            <a:off x="981075" y="3480196"/>
            <a:ext cx="2286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1.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1209675" y="3504009"/>
            <a:ext cx="459105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Restaurante (String) </a:t>
            </a:r>
            <a:r>
              <a:rPr lang="en-US" sz="1500" b="0" i="1" u="none" strike="noStrike" cap="none">
                <a:solidFill>
                  <a:srgbClr val="94A3B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1° El Texto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981075" y="3718321"/>
            <a:ext cx="2286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2.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1209675" y="3742134"/>
            <a:ext cx="459105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Consumo (double) </a:t>
            </a:r>
            <a:r>
              <a:rPr lang="en-US" sz="1500" b="0" i="1" u="none" strike="noStrike" cap="none">
                <a:solidFill>
                  <a:srgbClr val="94A3B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2° Los Números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981075" y="3956446"/>
            <a:ext cx="2286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3.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1209675" y="3980259"/>
            <a:ext cx="459105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Personas (int) </a:t>
            </a:r>
            <a:r>
              <a:rPr lang="en-US" sz="1500" b="0" i="1" u="none" strike="noStrike" cap="none">
                <a:solidFill>
                  <a:srgbClr val="94A3B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3° Los Números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6600" y="3142434"/>
            <a:ext cx="5794375" cy="107632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/>
          <p:nvPr/>
        </p:nvSpPr>
        <p:spPr>
          <a:xfrm>
            <a:off x="9525" y="9525"/>
            <a:ext cx="114300" cy="683895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7"/>
          <p:cNvSpPr txBox="1"/>
          <p:nvPr/>
        </p:nvSpPr>
        <p:spPr>
          <a:xfrm>
            <a:off x="771525" y="695334"/>
            <a:ext cx="11381422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59669"/>
                </a:solidFill>
                <a:latin typeface="Roboto"/>
                <a:ea typeface="Roboto"/>
                <a:cs typeface="Roboto"/>
                <a:sym typeface="Roboto"/>
              </a:rPr>
              <a:t>Lógica del Negocio</a:t>
            </a:r>
            <a:endParaRPr/>
          </a:p>
        </p:txBody>
      </p:sp>
      <p:sp>
        <p:nvSpPr>
          <p:cNvPr id="164" name="Google Shape;164;p17"/>
          <p:cNvSpPr/>
          <p:nvPr/>
        </p:nvSpPr>
        <p:spPr>
          <a:xfrm>
            <a:off x="771525" y="1170384"/>
            <a:ext cx="10839450" cy="1905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7"/>
          <p:cNvSpPr txBox="1"/>
          <p:nvPr/>
        </p:nvSpPr>
        <p:spPr>
          <a:xfrm>
            <a:off x="771525" y="1989909"/>
            <a:ext cx="5490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2. FÓRMULAS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5746750" y="1984097"/>
            <a:ext cx="5490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3. SALIDA CON FORMATO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5746750" y="2431772"/>
            <a:ext cx="5229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Usa System.out.printf para evitar que el dinero se vea así: $33333.333333333.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771525" y="2437584"/>
            <a:ext cx="5229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Servicio (Propina):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Consumo * 0.10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771525" y="2780484"/>
            <a:ext cx="5229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Total a Pagar: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Consumo + Servicio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771525" y="3123384"/>
            <a:ext cx="5229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Aporte Individual: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Total a Pagar / Personas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6000825" y="3567009"/>
            <a:ext cx="4829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 err="1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Ejemplo</a:t>
            </a:r>
            <a:r>
              <a:rPr lang="en-US" sz="1200" b="1" i="0" u="none" strike="noStrike" cap="none" dirty="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8"/>
          <p:cNvSpPr/>
          <p:nvPr/>
        </p:nvSpPr>
        <p:spPr>
          <a:xfrm>
            <a:off x="9525" y="9525"/>
            <a:ext cx="114300" cy="683895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8"/>
          <p:cNvSpPr txBox="1"/>
          <p:nvPr/>
        </p:nvSpPr>
        <p:spPr>
          <a:xfrm>
            <a:off x="771525" y="675084"/>
            <a:ext cx="11381422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59669"/>
                </a:solidFill>
                <a:latin typeface="Roboto"/>
                <a:ea typeface="Roboto"/>
                <a:cs typeface="Roboto"/>
                <a:sym typeface="Roboto"/>
              </a:rPr>
              <a:t>Salida Esperada: Restaurante</a:t>
            </a:r>
            <a:endParaRPr/>
          </a:p>
        </p:txBody>
      </p:sp>
      <p:sp>
        <p:nvSpPr>
          <p:cNvPr id="178" name="Google Shape;178;p18"/>
          <p:cNvSpPr/>
          <p:nvPr/>
        </p:nvSpPr>
        <p:spPr>
          <a:xfrm>
            <a:off x="771525" y="1170384"/>
            <a:ext cx="10839450" cy="1905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8"/>
          <p:cNvSpPr txBox="1"/>
          <p:nvPr/>
        </p:nvSpPr>
        <p:spPr>
          <a:xfrm>
            <a:off x="771525" y="1427559"/>
            <a:ext cx="108394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Nota cómo pedimos el nombre primero:</a:t>
            </a:r>
            <a:endParaRPr/>
          </a:p>
        </p:txBody>
      </p:sp>
      <p:pic>
        <p:nvPicPr>
          <p:cNvPr id="180" name="Google Shape;18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4850" y="1959434"/>
            <a:ext cx="10782300" cy="357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342</Words>
  <Application>Microsoft Office PowerPoint</Application>
  <PresentationFormat>Widescreen</PresentationFormat>
  <Paragraphs>45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Roboto SemiBold</vt:lpstr>
      <vt:lpstr>Source Code Pro</vt:lpstr>
      <vt:lpstr>Arial</vt:lpstr>
      <vt:lpstr>Calibri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SEBASTIAN MONTOYA VILLADA</cp:lastModifiedBy>
  <cp:revision>2</cp:revision>
  <dcterms:modified xsi:type="dcterms:W3CDTF">2026-02-17T01:33:31Z</dcterms:modified>
</cp:coreProperties>
</file>